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  <p:sldMasterId id="2147483665" r:id="rId2"/>
  </p:sldMasterIdLst>
  <p:notesMasterIdLst>
    <p:notesMasterId r:id="rId15"/>
  </p:notesMasterIdLst>
  <p:sldIdLst>
    <p:sldId id="256" r:id="rId3"/>
    <p:sldId id="257" r:id="rId4"/>
    <p:sldId id="258" r:id="rId5"/>
    <p:sldId id="297" r:id="rId6"/>
    <p:sldId id="259" r:id="rId7"/>
    <p:sldId id="285" r:id="rId8"/>
    <p:sldId id="286" r:id="rId9"/>
    <p:sldId id="287" r:id="rId10"/>
    <p:sldId id="298" r:id="rId11"/>
    <p:sldId id="289" r:id="rId12"/>
    <p:sldId id="296" r:id="rId13"/>
    <p:sldId id="284" r:id="rId14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81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5" name="Google Shape;12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49650eeeb847cd9e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g49650eeeb847cd9e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CC56A86-2225-24A0-7FDA-CA1A4BCA7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>
            <a:extLst>
              <a:ext uri="{FF2B5EF4-FFF2-40B4-BE49-F238E27FC236}">
                <a16:creationId xmlns:a16="http://schemas.microsoft.com/office/drawing/2014/main" id="{AC498FA2-D44F-9650-4EFB-A2DBDFF6EA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p2:notes">
            <a:extLst>
              <a:ext uri="{FF2B5EF4-FFF2-40B4-BE49-F238E27FC236}">
                <a16:creationId xmlns:a16="http://schemas.microsoft.com/office/drawing/2014/main" id="{3D4E627D-5297-45C6-D6D7-B5F33DE462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616731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7" name="Google Shape;1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4D10CDF-E1B9-8390-3091-484F4C553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>
            <a:extLst>
              <a:ext uri="{FF2B5EF4-FFF2-40B4-BE49-F238E27FC236}">
                <a16:creationId xmlns:a16="http://schemas.microsoft.com/office/drawing/2014/main" id="{425B0955-05B5-B5D7-FD55-1CB2211ACF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p2:notes">
            <a:extLst>
              <a:ext uri="{FF2B5EF4-FFF2-40B4-BE49-F238E27FC236}">
                <a16:creationId xmlns:a16="http://schemas.microsoft.com/office/drawing/2014/main" id="{0E99DE41-1707-4062-D998-B3B096A02A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000321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DC092B1D-C743-F55C-CA30-36DB380A5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>
            <a:extLst>
              <a:ext uri="{FF2B5EF4-FFF2-40B4-BE49-F238E27FC236}">
                <a16:creationId xmlns:a16="http://schemas.microsoft.com/office/drawing/2014/main" id="{975B178D-AA74-46B7-1FD2-B4DD82AA88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7" name="Google Shape;157;p3:notes">
            <a:extLst>
              <a:ext uri="{FF2B5EF4-FFF2-40B4-BE49-F238E27FC236}">
                <a16:creationId xmlns:a16="http://schemas.microsoft.com/office/drawing/2014/main" id="{5BDA53E9-B1B4-738D-42CE-BC7004BC1C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540414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EACCD60-3D7A-CA08-1E39-9AD1D264C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>
            <a:extLst>
              <a:ext uri="{FF2B5EF4-FFF2-40B4-BE49-F238E27FC236}">
                <a16:creationId xmlns:a16="http://schemas.microsoft.com/office/drawing/2014/main" id="{D76267BF-7DE0-65A7-C694-2580A919FE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p2:notes">
            <a:extLst>
              <a:ext uri="{FF2B5EF4-FFF2-40B4-BE49-F238E27FC236}">
                <a16:creationId xmlns:a16="http://schemas.microsoft.com/office/drawing/2014/main" id="{6C7D5D35-218A-D4FB-6788-B87D76C11B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285676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92E3A5E-B0D3-3E48-32A6-4B1F658A9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>
            <a:extLst>
              <a:ext uri="{FF2B5EF4-FFF2-40B4-BE49-F238E27FC236}">
                <a16:creationId xmlns:a16="http://schemas.microsoft.com/office/drawing/2014/main" id="{9B0F63BD-9E42-E975-6581-C4B6263D01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p2:notes">
            <a:extLst>
              <a:ext uri="{FF2B5EF4-FFF2-40B4-BE49-F238E27FC236}">
                <a16:creationId xmlns:a16="http://schemas.microsoft.com/office/drawing/2014/main" id="{D535635B-44DF-4F42-24E6-09C869C252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995751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7173AB4-F24A-A60F-C0D1-EB03B0C90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>
            <a:extLst>
              <a:ext uri="{FF2B5EF4-FFF2-40B4-BE49-F238E27FC236}">
                <a16:creationId xmlns:a16="http://schemas.microsoft.com/office/drawing/2014/main" id="{17D6E1F4-0C0D-E0D7-ACAB-A7F975E113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p2:notes">
            <a:extLst>
              <a:ext uri="{FF2B5EF4-FFF2-40B4-BE49-F238E27FC236}">
                <a16:creationId xmlns:a16="http://schemas.microsoft.com/office/drawing/2014/main" id="{78A47C74-6C61-B6ED-CF88-AF88F9C92F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16192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41B30C7-25F7-7370-238E-68884A811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>
            <a:extLst>
              <a:ext uri="{FF2B5EF4-FFF2-40B4-BE49-F238E27FC236}">
                <a16:creationId xmlns:a16="http://schemas.microsoft.com/office/drawing/2014/main" id="{FB800B53-F874-CC7A-CF45-B7800E6C7F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p2:notes">
            <a:extLst>
              <a:ext uri="{FF2B5EF4-FFF2-40B4-BE49-F238E27FC236}">
                <a16:creationId xmlns:a16="http://schemas.microsoft.com/office/drawing/2014/main" id="{0C64713B-921F-DCCB-1E28-ECE2EDFBAD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40145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1" name="Google Shape;43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jp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468600" y="9065921"/>
            <a:ext cx="2457059" cy="88448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4980299" y="2931384"/>
            <a:ext cx="83274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>
            <a:off x="1394850" y="2349355"/>
            <a:ext cx="15498300" cy="6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3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9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0286999"/>
                </a:lnTo>
                <a:close/>
              </a:path>
            </a:pathLst>
          </a:custGeom>
          <a:solidFill>
            <a:srgbClr val="004A9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924597"/>
            <a:ext cx="3397077" cy="53624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/>
          <p:nvPr/>
        </p:nvSpPr>
        <p:spPr>
          <a:xfrm>
            <a:off x="13422165" y="6207125"/>
            <a:ext cx="4866005" cy="4079875"/>
          </a:xfrm>
          <a:custGeom>
            <a:avLst/>
            <a:gdLst/>
            <a:ahLst/>
            <a:cxnLst/>
            <a:rect l="l" t="t" r="r" b="b"/>
            <a:pathLst>
              <a:path w="4866005" h="4079875" extrusionOk="0">
                <a:moveTo>
                  <a:pt x="4865828" y="4079874"/>
                </a:moveTo>
                <a:lnTo>
                  <a:pt x="0" y="4079874"/>
                </a:lnTo>
                <a:lnTo>
                  <a:pt x="4865828" y="0"/>
                </a:lnTo>
                <a:lnTo>
                  <a:pt x="4865828" y="40798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53650" y="9167571"/>
            <a:ext cx="2457059" cy="884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28250" y="2581824"/>
            <a:ext cx="15631500" cy="635464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>
            <a:spLocks noGrp="1"/>
          </p:cNvSpPr>
          <p:nvPr>
            <p:ph type="title"/>
          </p:nvPr>
        </p:nvSpPr>
        <p:spPr>
          <a:xfrm>
            <a:off x="4980299" y="2931384"/>
            <a:ext cx="83274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3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ctrTitle"/>
          </p:nvPr>
        </p:nvSpPr>
        <p:spPr>
          <a:xfrm>
            <a:off x="1394850" y="968165"/>
            <a:ext cx="154983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subTitle" idx="1"/>
          </p:nvPr>
        </p:nvSpPr>
        <p:spPr>
          <a:xfrm>
            <a:off x="2743200" y="5760720"/>
            <a:ext cx="12801600" cy="25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6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3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6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4980299" y="2931384"/>
            <a:ext cx="83274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body" idx="1"/>
          </p:nvPr>
        </p:nvSpPr>
        <p:spPr>
          <a:xfrm>
            <a:off x="914400" y="2366010"/>
            <a:ext cx="7955400" cy="67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2"/>
          </p:nvPr>
        </p:nvSpPr>
        <p:spPr>
          <a:xfrm>
            <a:off x="9418320" y="2366010"/>
            <a:ext cx="7955400" cy="67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7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3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3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468600" y="9065921"/>
            <a:ext cx="2457059" cy="88448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3"/>
          <p:cNvSpPr/>
          <p:nvPr/>
        </p:nvSpPr>
        <p:spPr>
          <a:xfrm>
            <a:off x="0" y="6743700"/>
            <a:ext cx="8432800" cy="3543300"/>
          </a:xfrm>
          <a:custGeom>
            <a:avLst/>
            <a:gdLst/>
            <a:ahLst/>
            <a:cxnLst/>
            <a:rect l="l" t="t" r="r" b="b"/>
            <a:pathLst>
              <a:path w="8432800" h="3543300" extrusionOk="0">
                <a:moveTo>
                  <a:pt x="8432213" y="3543299"/>
                </a:moveTo>
                <a:lnTo>
                  <a:pt x="0" y="3543299"/>
                </a:lnTo>
                <a:lnTo>
                  <a:pt x="0" y="0"/>
                </a:lnTo>
                <a:lnTo>
                  <a:pt x="8432213" y="3543299"/>
                </a:lnTo>
                <a:close/>
              </a:path>
            </a:pathLst>
          </a:custGeom>
          <a:solidFill>
            <a:srgbClr val="3766A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0" y="0"/>
            <a:ext cx="4235450" cy="9508490"/>
          </a:xfrm>
          <a:custGeom>
            <a:avLst/>
            <a:gdLst/>
            <a:ahLst/>
            <a:cxnLst/>
            <a:rect l="l" t="t" r="r" b="b"/>
            <a:pathLst>
              <a:path w="4235450" h="9508490" extrusionOk="0">
                <a:moveTo>
                  <a:pt x="0" y="9508163"/>
                </a:moveTo>
                <a:lnTo>
                  <a:pt x="0" y="0"/>
                </a:lnTo>
                <a:lnTo>
                  <a:pt x="4235308" y="0"/>
                </a:lnTo>
                <a:lnTo>
                  <a:pt x="0" y="9508163"/>
                </a:lnTo>
                <a:close/>
              </a:path>
            </a:pathLst>
          </a:custGeom>
          <a:solidFill>
            <a:srgbClr val="E1EB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4980299" y="2931384"/>
            <a:ext cx="83274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body" idx="1"/>
          </p:nvPr>
        </p:nvSpPr>
        <p:spPr>
          <a:xfrm>
            <a:off x="1394850" y="2349355"/>
            <a:ext cx="15498300" cy="6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3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016/j.tsc.2024.101551" TargetMode="External"/><Relationship Id="rId5" Type="http://schemas.openxmlformats.org/officeDocument/2006/relationships/hyperlink" Target="https://doi.org/10.1016/j.techfore.2016.08.019" TargetMode="Externa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98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0" y="-106086"/>
            <a:ext cx="8839200" cy="567021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/>
          <p:nvPr/>
        </p:nvSpPr>
        <p:spPr>
          <a:xfrm rot="2748674">
            <a:off x="-2468495" y="7230354"/>
            <a:ext cx="7221215" cy="3829020"/>
          </a:xfrm>
          <a:custGeom>
            <a:avLst/>
            <a:gdLst/>
            <a:ahLst/>
            <a:cxnLst/>
            <a:rect l="l" t="t" r="r" b="b"/>
            <a:pathLst>
              <a:path w="1762595" h="846796" extrusionOk="0">
                <a:moveTo>
                  <a:pt x="0" y="0"/>
                </a:moveTo>
                <a:lnTo>
                  <a:pt x="881297" y="846796"/>
                </a:lnTo>
                <a:lnTo>
                  <a:pt x="1762595" y="0"/>
                </a:lnTo>
                <a:close/>
              </a:path>
            </a:pathLst>
          </a:custGeom>
          <a:solidFill>
            <a:srgbClr val="E1EBFF"/>
          </a:solidFill>
          <a:ln>
            <a:noFill/>
          </a:ln>
        </p:spPr>
      </p:sp>
      <p:sp>
        <p:nvSpPr>
          <p:cNvPr id="130" name="Google Shape;130;p19"/>
          <p:cNvSpPr/>
          <p:nvPr/>
        </p:nvSpPr>
        <p:spPr>
          <a:xfrm rot="-5400000">
            <a:off x="12907024" y="4906022"/>
            <a:ext cx="7779394" cy="2982561"/>
          </a:xfrm>
          <a:custGeom>
            <a:avLst/>
            <a:gdLst/>
            <a:ahLst/>
            <a:cxnLst/>
            <a:rect l="l" t="t" r="r" b="b"/>
            <a:pathLst>
              <a:path w="9446849" h="3604199" extrusionOk="0">
                <a:moveTo>
                  <a:pt x="9446849" y="3604199"/>
                </a:moveTo>
                <a:lnTo>
                  <a:pt x="0" y="3604199"/>
                </a:lnTo>
                <a:lnTo>
                  <a:pt x="0" y="0"/>
                </a:lnTo>
                <a:lnTo>
                  <a:pt x="9446849" y="3604199"/>
                </a:lnTo>
                <a:close/>
              </a:path>
            </a:pathLst>
          </a:custGeom>
          <a:solidFill>
            <a:srgbClr val="E1EBFF"/>
          </a:solidFill>
          <a:ln>
            <a:noFill/>
          </a:ln>
        </p:spPr>
      </p:sp>
      <p:pic>
        <p:nvPicPr>
          <p:cNvPr id="131" name="Google Shape;131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67562" y="747636"/>
            <a:ext cx="1352875" cy="194002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9"/>
          <p:cNvSpPr txBox="1"/>
          <p:nvPr/>
        </p:nvSpPr>
        <p:spPr>
          <a:xfrm>
            <a:off x="3452575" y="2659425"/>
            <a:ext cx="12759600" cy="19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UNIVERSIDADE FEDERAL DA PARAÍBA – UFPB</a:t>
            </a:r>
            <a:endParaRPr sz="36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Centro de </a:t>
            </a:r>
            <a:r>
              <a:rPr lang="en-US" sz="3600" b="0" i="0" u="none" strike="noStrike" cap="none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Tecnologia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CT  </a:t>
            </a:r>
            <a:endParaRPr sz="36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6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Pós-Graduação em Engenharia de Produção e Sistemas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</a:t>
            </a:r>
            <a:r>
              <a:rPr lang="pt-BR" sz="36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PPGEPS</a:t>
            </a:r>
            <a:endParaRPr sz="36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1797621" y="5578106"/>
            <a:ext cx="14999100" cy="1711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Informatização e a Complexidade do Trabalho: Uma Análise Fatorial das Habilidades Cognitivas de Ordem Superior</a:t>
            </a:r>
            <a:endParaRPr sz="40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5613175" y="7704949"/>
            <a:ext cx="7981200" cy="20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marR="50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 b="0" i="0" u="none" strike="noStrike" cap="none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Discente</a:t>
            </a:r>
            <a:r>
              <a:rPr lang="en-US" sz="27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Maxwell Monteiro Marques</a:t>
            </a:r>
            <a:endParaRPr sz="27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50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700" b="0" i="0" u="none" strike="noStrike" cap="none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Orientador</a:t>
            </a:r>
            <a:r>
              <a:rPr lang="en-US" sz="27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pt-BR" sz="27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Dr. Ivan Bolis</a:t>
            </a:r>
            <a:endParaRPr lang="en-US" sz="27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2CAC5AE-23B2-EAF6-0209-5B46E0D523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981" y="467763"/>
            <a:ext cx="3352800" cy="18807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/>
          <p:nvPr/>
        </p:nvSpPr>
        <p:spPr>
          <a:xfrm>
            <a:off x="0" y="6743700"/>
            <a:ext cx="8478547" cy="3562769"/>
          </a:xfrm>
          <a:custGeom>
            <a:avLst/>
            <a:gdLst/>
            <a:ahLst/>
            <a:cxnLst/>
            <a:rect l="l" t="t" r="r" b="b"/>
            <a:pathLst>
              <a:path w="9446849" h="4847305" extrusionOk="0">
                <a:moveTo>
                  <a:pt x="9446849" y="4847305"/>
                </a:moveTo>
                <a:lnTo>
                  <a:pt x="0" y="4847305"/>
                </a:lnTo>
                <a:lnTo>
                  <a:pt x="0" y="0"/>
                </a:lnTo>
                <a:lnTo>
                  <a:pt x="9446849" y="4847305"/>
                </a:lnTo>
                <a:close/>
              </a:path>
            </a:pathLst>
          </a:custGeom>
          <a:solidFill>
            <a:srgbClr val="3766AA"/>
          </a:solidFill>
          <a:ln>
            <a:noFill/>
          </a:ln>
        </p:spPr>
      </p:sp>
      <p:sp>
        <p:nvSpPr>
          <p:cNvPr id="141" name="Google Shape;141;p20"/>
          <p:cNvSpPr/>
          <p:nvPr/>
        </p:nvSpPr>
        <p:spPr>
          <a:xfrm rot="5400000">
            <a:off x="-2643320" y="2639072"/>
            <a:ext cx="9517700" cy="4239557"/>
          </a:xfrm>
          <a:custGeom>
            <a:avLst/>
            <a:gdLst/>
            <a:ahLst/>
            <a:cxnLst/>
            <a:rect l="l" t="t" r="r" b="b"/>
            <a:pathLst>
              <a:path w="9446849" h="4207997" extrusionOk="0">
                <a:moveTo>
                  <a:pt x="9446849" y="4207997"/>
                </a:moveTo>
                <a:lnTo>
                  <a:pt x="0" y="4207997"/>
                </a:lnTo>
                <a:lnTo>
                  <a:pt x="0" y="0"/>
                </a:lnTo>
                <a:lnTo>
                  <a:pt x="9446849" y="4207997"/>
                </a:lnTo>
                <a:close/>
              </a:path>
            </a:pathLst>
          </a:custGeom>
          <a:solidFill>
            <a:srgbClr val="E1EBFF"/>
          </a:solidFill>
          <a:ln>
            <a:noFill/>
          </a:ln>
        </p:spPr>
      </p:sp>
      <p:sp>
        <p:nvSpPr>
          <p:cNvPr id="142" name="Google Shape;142;p20"/>
          <p:cNvSpPr txBox="1"/>
          <p:nvPr/>
        </p:nvSpPr>
        <p:spPr>
          <a:xfrm>
            <a:off x="8478547" y="1603457"/>
            <a:ext cx="5986808" cy="8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200" b="1" dirty="0">
                <a:latin typeface="Verdana"/>
                <a:ea typeface="Verdana"/>
                <a:cs typeface="Verdana"/>
                <a:sym typeface="Verdana"/>
              </a:rPr>
              <a:t>TÓPICOS </a:t>
            </a:r>
            <a:endParaRPr sz="4200" i="0" u="none" strike="noStrike" cap="none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3" name="Google Shape;143;p20"/>
          <p:cNvSpPr txBox="1"/>
          <p:nvPr/>
        </p:nvSpPr>
        <p:spPr>
          <a:xfrm>
            <a:off x="1773050" y="1529875"/>
            <a:ext cx="15255600" cy="11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6158790" y="2956421"/>
            <a:ext cx="8478547" cy="5252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76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Font typeface="Verdana"/>
              <a:buChar char="●"/>
            </a:pPr>
            <a:r>
              <a:rPr lang="pt-BR" sz="3900" dirty="0">
                <a:latin typeface="Verdana"/>
                <a:ea typeface="Verdana"/>
                <a:cs typeface="Verdana"/>
                <a:sym typeface="Verdana"/>
              </a:rPr>
              <a:t>Contextualização do Tema</a:t>
            </a:r>
            <a:endParaRPr sz="3900" dirty="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476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Font typeface="Verdana"/>
              <a:buChar char="●"/>
            </a:pPr>
            <a:r>
              <a:rPr lang="en-US" sz="3900" dirty="0">
                <a:latin typeface="Verdana"/>
                <a:ea typeface="Verdana"/>
                <a:cs typeface="Verdana"/>
                <a:sym typeface="Verdana"/>
              </a:rPr>
              <a:t>Lacunas de Pesquisa</a:t>
            </a:r>
          </a:p>
          <a:p>
            <a:pPr marL="457200" marR="0" lvl="0" indent="-476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Font typeface="Verdana"/>
              <a:buChar char="●"/>
            </a:pPr>
            <a:r>
              <a:rPr lang="en-US" sz="3900" dirty="0" err="1">
                <a:latin typeface="Verdana"/>
                <a:ea typeface="Verdana"/>
                <a:cs typeface="Verdana"/>
                <a:sym typeface="Verdana"/>
              </a:rPr>
              <a:t>Problema</a:t>
            </a:r>
            <a:r>
              <a:rPr lang="en-US" sz="3900" dirty="0">
                <a:latin typeface="Verdana"/>
                <a:ea typeface="Verdana"/>
                <a:cs typeface="Verdana"/>
                <a:sym typeface="Verdana"/>
              </a:rPr>
              <a:t> de Pesquisa</a:t>
            </a:r>
          </a:p>
          <a:p>
            <a:pPr marL="457200" marR="0" lvl="0" indent="-476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Font typeface="Verdana"/>
              <a:buChar char="●"/>
            </a:pPr>
            <a:r>
              <a:rPr lang="en-US" sz="3900" dirty="0" err="1">
                <a:latin typeface="Verdana"/>
                <a:ea typeface="Verdana"/>
                <a:cs typeface="Verdana"/>
                <a:sym typeface="Verdana"/>
              </a:rPr>
              <a:t>Objetivos</a:t>
            </a:r>
            <a:r>
              <a:rPr lang="en-US" sz="3900" dirty="0">
                <a:latin typeface="Verdana"/>
                <a:ea typeface="Verdana"/>
                <a:cs typeface="Verdana"/>
                <a:sym typeface="Verdana"/>
              </a:rPr>
              <a:t> Geral e </a:t>
            </a:r>
            <a:r>
              <a:rPr lang="en-US" sz="3900" dirty="0" err="1">
                <a:latin typeface="Verdana"/>
                <a:ea typeface="Verdana"/>
                <a:cs typeface="Verdana"/>
                <a:sym typeface="Verdana"/>
              </a:rPr>
              <a:t>Específicos</a:t>
            </a:r>
            <a:endParaRPr lang="en-US" sz="3900" dirty="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476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Font typeface="Verdana"/>
              <a:buChar char="●"/>
            </a:pPr>
            <a:r>
              <a:rPr lang="en-US" sz="3900" dirty="0" err="1">
                <a:latin typeface="Verdana"/>
                <a:ea typeface="Verdana"/>
                <a:cs typeface="Verdana"/>
                <a:sym typeface="Verdana"/>
              </a:rPr>
              <a:t>Justificativa</a:t>
            </a:r>
            <a:endParaRPr sz="3900" dirty="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476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Font typeface="Verdana"/>
              <a:buChar char="●"/>
            </a:pPr>
            <a:r>
              <a:rPr lang="pt-BR" sz="3900" dirty="0">
                <a:latin typeface="Verdana"/>
                <a:ea typeface="Verdana"/>
                <a:cs typeface="Verdana"/>
                <a:sym typeface="Verdana"/>
              </a:rPr>
              <a:t>Modelo Teórico de Pesquisa</a:t>
            </a:r>
            <a:endParaRPr sz="3900" dirty="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476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Font typeface="Verdana"/>
              <a:buChar char="●"/>
            </a:pPr>
            <a:r>
              <a:rPr lang="en-US" sz="3900" dirty="0" err="1">
                <a:latin typeface="Verdana"/>
                <a:ea typeface="Verdana"/>
                <a:cs typeface="Verdana"/>
                <a:sym typeface="Verdana"/>
              </a:rPr>
              <a:t>Hermenêutica</a:t>
            </a:r>
            <a:r>
              <a:rPr lang="en-US" sz="3900" dirty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3900" dirty="0" err="1">
                <a:latin typeface="Verdana"/>
                <a:ea typeface="Verdana"/>
                <a:cs typeface="Verdana"/>
                <a:sym typeface="Verdana"/>
              </a:rPr>
              <a:t>Interpretativa</a:t>
            </a:r>
            <a:endParaRPr lang="en-US" sz="3900" dirty="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476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Font typeface="Verdana"/>
              <a:buChar char="●"/>
            </a:pPr>
            <a:r>
              <a:rPr lang="en-US" sz="3900" dirty="0" err="1">
                <a:latin typeface="Verdana"/>
                <a:ea typeface="Verdana"/>
                <a:cs typeface="Verdana"/>
                <a:sym typeface="Verdana"/>
              </a:rPr>
              <a:t>Prática</a:t>
            </a:r>
            <a:r>
              <a:rPr lang="en-US" sz="3900" dirty="0">
                <a:latin typeface="Verdana"/>
                <a:ea typeface="Verdana"/>
                <a:cs typeface="Verdana"/>
                <a:sym typeface="Verdana"/>
              </a:rPr>
              <a:t> de Pesquisa</a:t>
            </a:r>
          </a:p>
          <a:p>
            <a:pPr marL="457200" marR="0" lvl="0" indent="-476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Font typeface="Verdana"/>
              <a:buChar char="●"/>
            </a:pPr>
            <a:r>
              <a:rPr lang="pt-BR" sz="3900" dirty="0">
                <a:latin typeface="Verdana"/>
                <a:ea typeface="Verdana"/>
                <a:cs typeface="Verdana"/>
                <a:sym typeface="Verdana"/>
              </a:rPr>
              <a:t>Principais Referências</a:t>
            </a:r>
            <a:endParaRPr sz="3900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2468434-600E-DEB6-BC87-7DBF6332E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6563" y="8525084"/>
            <a:ext cx="2011075" cy="11280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733213" y="6598393"/>
            <a:ext cx="13346932" cy="3688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11703438" y="6636492"/>
            <a:ext cx="6604440" cy="368860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/>
          <p:nvPr/>
        </p:nvSpPr>
        <p:spPr>
          <a:xfrm rot="5400000" flipH="1">
            <a:off x="-1116218" y="5656744"/>
            <a:ext cx="5753101" cy="3507412"/>
          </a:xfrm>
          <a:custGeom>
            <a:avLst/>
            <a:gdLst/>
            <a:ahLst/>
            <a:cxnLst/>
            <a:rect l="l" t="t" r="r" b="b"/>
            <a:pathLst>
              <a:path w="7464494" h="4292149" extrusionOk="0">
                <a:moveTo>
                  <a:pt x="7464494" y="4292149"/>
                </a:moveTo>
                <a:lnTo>
                  <a:pt x="0" y="4292149"/>
                </a:lnTo>
                <a:lnTo>
                  <a:pt x="0" y="0"/>
                </a:lnTo>
                <a:lnTo>
                  <a:pt x="7464494" y="4292149"/>
                </a:lnTo>
                <a:close/>
              </a:path>
            </a:pathLst>
          </a:custGeom>
          <a:solidFill>
            <a:srgbClr val="004A98"/>
          </a:solidFill>
          <a:ln>
            <a:noFill/>
          </a:ln>
        </p:spPr>
      </p:sp>
      <p:sp>
        <p:nvSpPr>
          <p:cNvPr id="153" name="Google Shape;153;p21"/>
          <p:cNvSpPr txBox="1"/>
          <p:nvPr/>
        </p:nvSpPr>
        <p:spPr>
          <a:xfrm>
            <a:off x="863075" y="699800"/>
            <a:ext cx="6065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INTRODUÇÃO</a:t>
            </a:r>
            <a:endParaRPr sz="400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2627357" y="2573080"/>
            <a:ext cx="12608966" cy="5380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200" dirty="0" err="1">
                <a:latin typeface="Verdana"/>
                <a:ea typeface="Verdana"/>
                <a:cs typeface="Verdana"/>
                <a:sym typeface="Verdana"/>
              </a:rPr>
              <a:t>Contextualização</a:t>
            </a:r>
            <a:r>
              <a:rPr lang="en-US" sz="3200" dirty="0">
                <a:latin typeface="Verdana"/>
                <a:ea typeface="Verdana"/>
                <a:cs typeface="Verdana"/>
                <a:sym typeface="Verdana"/>
              </a:rPr>
              <a:t> do Tema</a:t>
            </a:r>
            <a:r>
              <a:rPr lang="en-US" sz="320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 sz="320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200" dirty="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r>
              <a:rPr lang="pt-BR" sz="3200" dirty="0">
                <a:latin typeface="Verdana"/>
                <a:ea typeface="Verdana"/>
                <a:cs typeface="Verdana"/>
                <a:sym typeface="Verdana"/>
              </a:rPr>
              <a:t>Informatização de tarefas (Frey; Osborne, 2017).</a:t>
            </a: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endParaRPr lang="pt-BR" sz="3200" dirty="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r>
              <a:rPr lang="pt-BR" sz="3200" dirty="0">
                <a:latin typeface="Verdana"/>
                <a:ea typeface="Verdana"/>
                <a:cs typeface="Verdana"/>
                <a:sym typeface="Verdana"/>
              </a:rPr>
              <a:t> Qualificação do trabalhador (</a:t>
            </a:r>
            <a:r>
              <a:rPr lang="pt-BR" sz="3200" dirty="0" err="1">
                <a:latin typeface="Verdana"/>
                <a:ea typeface="Verdana"/>
                <a:cs typeface="Verdana"/>
                <a:sym typeface="Verdana"/>
              </a:rPr>
              <a:t>Hudomiet</a:t>
            </a:r>
            <a:r>
              <a:rPr lang="pt-BR" sz="3200" dirty="0">
                <a:latin typeface="Verdana"/>
                <a:ea typeface="Verdana"/>
                <a:cs typeface="Verdana"/>
                <a:sym typeface="Verdana"/>
              </a:rPr>
              <a:t>; Willis, 2022). </a:t>
            </a: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endParaRPr lang="pt-BR" sz="320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r>
              <a:rPr lang="pt-BR" sz="3200" dirty="0">
                <a:latin typeface="Verdana"/>
                <a:ea typeface="Verdana"/>
                <a:cs typeface="Verdana"/>
                <a:sym typeface="Verdana"/>
              </a:rPr>
              <a:t> Colaboração Humano-Tecnologia (</a:t>
            </a:r>
            <a:r>
              <a:rPr lang="pt-BR" sz="3200" dirty="0" err="1">
                <a:latin typeface="Verdana"/>
                <a:ea typeface="Verdana"/>
                <a:cs typeface="Verdana"/>
                <a:sym typeface="Verdana"/>
              </a:rPr>
              <a:t>Yatani</a:t>
            </a:r>
            <a:r>
              <a:rPr lang="pt-BR" sz="3200" dirty="0">
                <a:latin typeface="Verdana"/>
                <a:ea typeface="Verdana"/>
                <a:cs typeface="Verdana"/>
                <a:sym typeface="Verdana"/>
              </a:rPr>
              <a:t> et al., 2024). </a:t>
            </a: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endParaRPr lang="pt-BR" sz="320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r>
              <a:rPr lang="pt-BR" sz="3200" dirty="0">
                <a:latin typeface="Verdana"/>
                <a:ea typeface="Verdana"/>
                <a:cs typeface="Verdana"/>
                <a:sym typeface="Verdana"/>
              </a:rPr>
              <a:t> Modelo de HOTS </a:t>
            </a:r>
            <a:r>
              <a:rPr lang="da-DK" sz="3200" dirty="0">
                <a:latin typeface="Verdana"/>
                <a:ea typeface="Verdana"/>
                <a:cs typeface="Verdana"/>
                <a:sym typeface="Verdana"/>
              </a:rPr>
              <a:t>(Jun Liu et al.; 2024).</a:t>
            </a:r>
            <a:endParaRPr sz="320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742C189-FA76-5E18-980B-99CDD61FAF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66563" y="8525084"/>
            <a:ext cx="2011075" cy="11280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E961E55-C3DD-F3C7-349E-3F4796B8E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1">
            <a:extLst>
              <a:ext uri="{FF2B5EF4-FFF2-40B4-BE49-F238E27FC236}">
                <a16:creationId xmlns:a16="http://schemas.microsoft.com/office/drawing/2014/main" id="{495F1BEC-3E82-386B-4F0C-5B75D160CED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733213" y="6598393"/>
            <a:ext cx="13346932" cy="3688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1">
            <a:extLst>
              <a:ext uri="{FF2B5EF4-FFF2-40B4-BE49-F238E27FC236}">
                <a16:creationId xmlns:a16="http://schemas.microsoft.com/office/drawing/2014/main" id="{E2F8604A-66E4-419D-DD27-0BAAB20CC8B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11703438" y="6636492"/>
            <a:ext cx="6604440" cy="368860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>
            <a:extLst>
              <a:ext uri="{FF2B5EF4-FFF2-40B4-BE49-F238E27FC236}">
                <a16:creationId xmlns:a16="http://schemas.microsoft.com/office/drawing/2014/main" id="{AFC5833E-866B-CE94-8E77-8237BDE1AE28}"/>
              </a:ext>
            </a:extLst>
          </p:cNvPr>
          <p:cNvSpPr/>
          <p:nvPr/>
        </p:nvSpPr>
        <p:spPr>
          <a:xfrm rot="5400000" flipH="1">
            <a:off x="-1116218" y="5656744"/>
            <a:ext cx="5753101" cy="3507412"/>
          </a:xfrm>
          <a:custGeom>
            <a:avLst/>
            <a:gdLst/>
            <a:ahLst/>
            <a:cxnLst/>
            <a:rect l="l" t="t" r="r" b="b"/>
            <a:pathLst>
              <a:path w="7464494" h="4292149" extrusionOk="0">
                <a:moveTo>
                  <a:pt x="7464494" y="4292149"/>
                </a:moveTo>
                <a:lnTo>
                  <a:pt x="0" y="4292149"/>
                </a:lnTo>
                <a:lnTo>
                  <a:pt x="0" y="0"/>
                </a:lnTo>
                <a:lnTo>
                  <a:pt x="7464494" y="4292149"/>
                </a:lnTo>
                <a:close/>
              </a:path>
            </a:pathLst>
          </a:custGeom>
          <a:solidFill>
            <a:srgbClr val="004A98"/>
          </a:solidFill>
          <a:ln>
            <a:noFill/>
          </a:ln>
        </p:spPr>
      </p:sp>
      <p:sp>
        <p:nvSpPr>
          <p:cNvPr id="153" name="Google Shape;153;p21">
            <a:extLst>
              <a:ext uri="{FF2B5EF4-FFF2-40B4-BE49-F238E27FC236}">
                <a16:creationId xmlns:a16="http://schemas.microsoft.com/office/drawing/2014/main" id="{250A8B38-4150-A850-D9ED-6B8EBB3E6BF9}"/>
              </a:ext>
            </a:extLst>
          </p:cNvPr>
          <p:cNvSpPr txBox="1"/>
          <p:nvPr/>
        </p:nvSpPr>
        <p:spPr>
          <a:xfrm>
            <a:off x="863075" y="699800"/>
            <a:ext cx="6065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INTRODUÇÃO</a:t>
            </a:r>
            <a:endParaRPr sz="400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7E09D70A-CF48-4338-85A1-EA156E20DC4E}"/>
              </a:ext>
            </a:extLst>
          </p:cNvPr>
          <p:cNvSpPr txBox="1"/>
          <p:nvPr/>
        </p:nvSpPr>
        <p:spPr>
          <a:xfrm>
            <a:off x="2627357" y="2573080"/>
            <a:ext cx="12608966" cy="5380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200" dirty="0">
                <a:latin typeface="Verdana"/>
                <a:ea typeface="Verdana"/>
                <a:cs typeface="Verdana"/>
                <a:sym typeface="Verdana"/>
              </a:rPr>
              <a:t>Lacunas de Pesquisa</a:t>
            </a:r>
            <a:r>
              <a:rPr lang="en-US" sz="320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 sz="320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200" dirty="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r>
              <a:rPr lang="pt-BR" sz="3200" dirty="0">
                <a:latin typeface="Verdana"/>
                <a:ea typeface="Verdana"/>
                <a:cs typeface="Verdana"/>
                <a:sym typeface="Verdana"/>
              </a:rPr>
              <a:t>Estudos de caso humano-tecnologia (Liang et al., 2025).</a:t>
            </a: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endParaRPr lang="pt-BR" sz="3200" dirty="0"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431800" algn="just">
              <a:buSzPts val="3200"/>
              <a:buFont typeface="Verdana"/>
              <a:buAutoNum type="romanUcPeriod"/>
            </a:pPr>
            <a:r>
              <a:rPr lang="pt-BR" sz="3200" dirty="0">
                <a:latin typeface="Verdana"/>
                <a:ea typeface="Verdana"/>
                <a:cs typeface="Verdana"/>
                <a:sym typeface="Verdana"/>
              </a:rPr>
              <a:t> IA sob paradigmas educacionais (</a:t>
            </a:r>
            <a:r>
              <a:rPr lang="pt-BR" sz="3200" dirty="0" err="1">
                <a:latin typeface="Verdana"/>
                <a:ea typeface="Verdana"/>
                <a:cs typeface="Verdana"/>
                <a:sym typeface="Verdana"/>
              </a:rPr>
              <a:t>Bulut</a:t>
            </a:r>
            <a:r>
              <a:rPr lang="pt-BR" sz="3200" dirty="0">
                <a:latin typeface="Verdana"/>
                <a:ea typeface="Verdana"/>
                <a:cs typeface="Verdana"/>
                <a:sym typeface="Verdana"/>
              </a:rPr>
              <a:t>, 2026).</a:t>
            </a: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endParaRPr lang="pt-BR" sz="320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r>
              <a:rPr lang="pt-BR" sz="3200" dirty="0">
                <a:latin typeface="Verdana"/>
                <a:ea typeface="Verdana"/>
                <a:cs typeface="Verdana"/>
                <a:sym typeface="Verdana"/>
              </a:rPr>
              <a:t> Modelos cognitivos alternativos (Garcia-Barrios, 2025). </a:t>
            </a: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endParaRPr lang="pt-BR" sz="320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r>
              <a:rPr lang="pt-BR" sz="3200" dirty="0">
                <a:latin typeface="Verdana"/>
                <a:ea typeface="Verdana"/>
                <a:cs typeface="Verdana"/>
                <a:sym typeface="Verdana"/>
              </a:rPr>
              <a:t> Análise fatorial na educação </a:t>
            </a:r>
            <a:r>
              <a:rPr lang="da-DK" sz="3200" dirty="0">
                <a:latin typeface="Verdana"/>
                <a:ea typeface="Verdana"/>
                <a:cs typeface="Verdana"/>
                <a:sym typeface="Verdana"/>
              </a:rPr>
              <a:t>(Fourie et al., 2026).</a:t>
            </a:r>
            <a:endParaRPr sz="320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F85DB49-A9F8-2A93-1F4C-97DB332CF0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66563" y="8525084"/>
            <a:ext cx="2011075" cy="112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693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/>
          <p:nvPr/>
        </p:nvSpPr>
        <p:spPr>
          <a:xfrm>
            <a:off x="0" y="6743700"/>
            <a:ext cx="8470617" cy="3560866"/>
          </a:xfrm>
          <a:custGeom>
            <a:avLst/>
            <a:gdLst/>
            <a:ahLst/>
            <a:cxnLst/>
            <a:rect l="l" t="t" r="r" b="b"/>
            <a:pathLst>
              <a:path w="9446849" h="4847305" extrusionOk="0">
                <a:moveTo>
                  <a:pt x="9446849" y="4847305"/>
                </a:moveTo>
                <a:lnTo>
                  <a:pt x="0" y="4847305"/>
                </a:lnTo>
                <a:lnTo>
                  <a:pt x="0" y="0"/>
                </a:lnTo>
                <a:lnTo>
                  <a:pt x="9446849" y="4847305"/>
                </a:lnTo>
                <a:close/>
              </a:path>
            </a:pathLst>
          </a:custGeom>
          <a:solidFill>
            <a:srgbClr val="3766AA"/>
          </a:solidFill>
          <a:ln>
            <a:noFill/>
          </a:ln>
        </p:spPr>
      </p:sp>
      <p:sp>
        <p:nvSpPr>
          <p:cNvPr id="161" name="Google Shape;161;p22"/>
          <p:cNvSpPr/>
          <p:nvPr/>
        </p:nvSpPr>
        <p:spPr>
          <a:xfrm rot="5400000">
            <a:off x="-2636427" y="2636427"/>
            <a:ext cx="9508163" cy="4235309"/>
          </a:xfrm>
          <a:custGeom>
            <a:avLst/>
            <a:gdLst/>
            <a:ahLst/>
            <a:cxnLst/>
            <a:rect l="l" t="t" r="r" b="b"/>
            <a:pathLst>
              <a:path w="9446849" h="4207997" extrusionOk="0">
                <a:moveTo>
                  <a:pt x="9446849" y="4207997"/>
                </a:moveTo>
                <a:lnTo>
                  <a:pt x="0" y="4207997"/>
                </a:lnTo>
                <a:lnTo>
                  <a:pt x="0" y="0"/>
                </a:lnTo>
                <a:lnTo>
                  <a:pt x="9446849" y="4207997"/>
                </a:lnTo>
                <a:close/>
              </a:path>
            </a:pathLst>
          </a:custGeom>
          <a:solidFill>
            <a:srgbClr val="E1EBFF"/>
          </a:solidFill>
          <a:ln>
            <a:noFill/>
          </a:ln>
        </p:spPr>
      </p:sp>
      <p:sp>
        <p:nvSpPr>
          <p:cNvPr id="162" name="Google Shape;162;p22"/>
          <p:cNvSpPr txBox="1"/>
          <p:nvPr/>
        </p:nvSpPr>
        <p:spPr>
          <a:xfrm>
            <a:off x="1202763" y="699800"/>
            <a:ext cx="60651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000" b="1" i="0" u="none" strike="noStrike" cap="none" dirty="0">
                <a:latin typeface="Verdana"/>
                <a:ea typeface="Verdana"/>
                <a:cs typeface="Verdana"/>
                <a:sym typeface="Verdana"/>
              </a:rPr>
              <a:t>INTRODUÇÃO</a:t>
            </a:r>
            <a:endParaRPr sz="4000" i="0" u="none" strike="noStrike" cap="none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3" name="Google Shape;163;p22"/>
          <p:cNvSpPr txBox="1"/>
          <p:nvPr/>
        </p:nvSpPr>
        <p:spPr>
          <a:xfrm>
            <a:off x="1773050" y="1529875"/>
            <a:ext cx="15255600" cy="56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22"/>
          <p:cNvSpPr txBox="1"/>
          <p:nvPr/>
        </p:nvSpPr>
        <p:spPr>
          <a:xfrm>
            <a:off x="1773050" y="2946184"/>
            <a:ext cx="15486000" cy="3560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900" dirty="0">
                <a:latin typeface="Verdana"/>
                <a:ea typeface="Verdana"/>
                <a:cs typeface="Verdana"/>
                <a:sym typeface="Verdana"/>
              </a:rPr>
              <a:t>Problema de pesquisa: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lang="pt-BR" sz="3900" dirty="0"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900" dirty="0">
                <a:latin typeface="Verdana"/>
                <a:ea typeface="Verdana"/>
                <a:cs typeface="Verdana"/>
                <a:sym typeface="Verdana"/>
              </a:rPr>
              <a:t>Como a informatização influencia a complexidade cognitiva das ocupações, especialmente em contextos de intensidade tecnológica, à luz do modelo de HOTS?</a:t>
            </a:r>
            <a:endParaRPr sz="390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99D25B8-396F-D071-D891-B3A2DA617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6563" y="8525084"/>
            <a:ext cx="2011075" cy="11280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D1CB4F4-2BF5-4C01-5003-FE48791E4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>
            <a:extLst>
              <a:ext uri="{FF2B5EF4-FFF2-40B4-BE49-F238E27FC236}">
                <a16:creationId xmlns:a16="http://schemas.microsoft.com/office/drawing/2014/main" id="{D9A1FDF1-E86B-C254-4F4D-210747A717F3}"/>
              </a:ext>
            </a:extLst>
          </p:cNvPr>
          <p:cNvSpPr/>
          <p:nvPr/>
        </p:nvSpPr>
        <p:spPr>
          <a:xfrm rot="16614692" flipH="1">
            <a:off x="13230371" y="1308032"/>
            <a:ext cx="5753101" cy="3507412"/>
          </a:xfrm>
          <a:custGeom>
            <a:avLst/>
            <a:gdLst/>
            <a:ahLst/>
            <a:cxnLst/>
            <a:rect l="l" t="t" r="r" b="b"/>
            <a:pathLst>
              <a:path w="7464494" h="4292149" extrusionOk="0">
                <a:moveTo>
                  <a:pt x="7464494" y="4292149"/>
                </a:moveTo>
                <a:lnTo>
                  <a:pt x="0" y="4292149"/>
                </a:lnTo>
                <a:lnTo>
                  <a:pt x="0" y="0"/>
                </a:lnTo>
                <a:lnTo>
                  <a:pt x="7464494" y="4292149"/>
                </a:lnTo>
                <a:close/>
              </a:path>
            </a:pathLst>
          </a:custGeom>
          <a:solidFill>
            <a:srgbClr val="004A98"/>
          </a:solidFill>
          <a:ln>
            <a:noFill/>
          </a:ln>
        </p:spPr>
      </p:sp>
      <p:pic>
        <p:nvPicPr>
          <p:cNvPr id="149" name="Google Shape;149;p21">
            <a:extLst>
              <a:ext uri="{FF2B5EF4-FFF2-40B4-BE49-F238E27FC236}">
                <a16:creationId xmlns:a16="http://schemas.microsoft.com/office/drawing/2014/main" id="{A01E060D-CE9D-A507-79C3-02EF6050C7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636493"/>
            <a:ext cx="13346932" cy="3688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1">
            <a:extLst>
              <a:ext uri="{FF2B5EF4-FFF2-40B4-BE49-F238E27FC236}">
                <a16:creationId xmlns:a16="http://schemas.microsoft.com/office/drawing/2014/main" id="{E37E57CD-4174-7883-86C8-FAB52B35ADC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11703438" y="6636492"/>
            <a:ext cx="6604440" cy="3688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1">
            <a:extLst>
              <a:ext uri="{FF2B5EF4-FFF2-40B4-BE49-F238E27FC236}">
                <a16:creationId xmlns:a16="http://schemas.microsoft.com/office/drawing/2014/main" id="{9495B955-2DC0-4A25-32D3-01AC655594F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468600" y="9065921"/>
            <a:ext cx="2457059" cy="884483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1">
            <a:extLst>
              <a:ext uri="{FF2B5EF4-FFF2-40B4-BE49-F238E27FC236}">
                <a16:creationId xmlns:a16="http://schemas.microsoft.com/office/drawing/2014/main" id="{93DB1F44-6281-B9A8-5555-F7F6B055CF0A}"/>
              </a:ext>
            </a:extLst>
          </p:cNvPr>
          <p:cNvSpPr txBox="1"/>
          <p:nvPr/>
        </p:nvSpPr>
        <p:spPr>
          <a:xfrm>
            <a:off x="863075" y="699800"/>
            <a:ext cx="6065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INTRODUÇÃO</a:t>
            </a:r>
            <a:endParaRPr sz="400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6018B71F-CFD9-51AE-58BF-1806913D4DE0}"/>
              </a:ext>
            </a:extLst>
          </p:cNvPr>
          <p:cNvSpPr txBox="1"/>
          <p:nvPr/>
        </p:nvSpPr>
        <p:spPr>
          <a:xfrm>
            <a:off x="1852346" y="1778342"/>
            <a:ext cx="12631479" cy="751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200" dirty="0" err="1">
                <a:latin typeface="Verdana"/>
                <a:ea typeface="Verdana"/>
                <a:cs typeface="Verdana"/>
                <a:sym typeface="Verdana"/>
              </a:rPr>
              <a:t>Objetivo</a:t>
            </a:r>
            <a:r>
              <a:rPr lang="en-US" sz="3200" dirty="0">
                <a:latin typeface="Verdana"/>
                <a:ea typeface="Verdana"/>
                <a:cs typeface="Verdana"/>
                <a:sym typeface="Verdana"/>
              </a:rPr>
              <a:t> Geral</a:t>
            </a:r>
            <a:r>
              <a:rPr lang="en-US" sz="320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 sz="320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200" dirty="0"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431800" algn="just">
              <a:buSzPts val="3200"/>
              <a:buFont typeface="Verdana"/>
              <a:buAutoNum type="romanUcPeriod"/>
            </a:pPr>
            <a:r>
              <a:rPr lang="pt-BR" sz="3200" dirty="0">
                <a:latin typeface="Verdana"/>
                <a:ea typeface="Verdana"/>
                <a:cs typeface="Verdana"/>
                <a:sym typeface="Verdana"/>
              </a:rPr>
              <a:t>Analisar a relação entre a intensidade de informatização das ocupações e a estrutura da HOTS.</a:t>
            </a:r>
          </a:p>
          <a:p>
            <a:pPr marL="25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lang="pt-BR" sz="3200" dirty="0">
              <a:latin typeface="Verdana"/>
              <a:ea typeface="Verdana"/>
              <a:cs typeface="Verdana"/>
              <a:sym typeface="Verdana"/>
            </a:endParaRPr>
          </a:p>
          <a:p>
            <a:pPr marL="25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200" dirty="0">
                <a:latin typeface="Verdana"/>
                <a:ea typeface="Verdana"/>
                <a:cs typeface="Verdana"/>
                <a:sym typeface="Verdana"/>
              </a:rPr>
              <a:t>Objetivos Específicos:</a:t>
            </a:r>
          </a:p>
          <a:p>
            <a:pPr marL="25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lang="pt-BR" sz="3200" dirty="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r>
              <a:rPr lang="pt-BR" sz="3200" dirty="0">
                <a:latin typeface="Verdana"/>
                <a:ea typeface="Verdana"/>
                <a:cs typeface="Verdana"/>
                <a:sym typeface="Verdana"/>
              </a:rPr>
              <a:t>Construir um índice de intensidade de informatização das ocupações.</a:t>
            </a: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endParaRPr lang="pt-BR" sz="3200" dirty="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r>
              <a:rPr lang="pt-BR" sz="3200" dirty="0">
                <a:latin typeface="Verdana"/>
                <a:ea typeface="Verdana"/>
                <a:cs typeface="Verdana"/>
                <a:sym typeface="Verdana"/>
              </a:rPr>
              <a:t>Testar empiricamente a validade da estrutura fatorial modelo teórico de HOTS como skills ocupacionais.</a:t>
            </a: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endParaRPr sz="320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r>
              <a:rPr lang="pt-BR" sz="3200" dirty="0">
                <a:latin typeface="Verdana"/>
                <a:ea typeface="Verdana"/>
                <a:cs typeface="Verdana"/>
                <a:sym typeface="Verdana"/>
              </a:rPr>
              <a:t> Interpretar os resultados estatísticos a partir de teorias organizacionais e macroeconômicas relevantes.</a:t>
            </a:r>
            <a:endParaRPr sz="320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2210015-F2B9-811F-1B50-5598B66ED2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66563" y="8525084"/>
            <a:ext cx="2011075" cy="112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03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F3AA896C-1ED4-498B-EEEE-24E2DB4D1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>
            <a:extLst>
              <a:ext uri="{FF2B5EF4-FFF2-40B4-BE49-F238E27FC236}">
                <a16:creationId xmlns:a16="http://schemas.microsoft.com/office/drawing/2014/main" id="{A261FDBB-1D24-4E7B-FFEA-9493196C211D}"/>
              </a:ext>
            </a:extLst>
          </p:cNvPr>
          <p:cNvSpPr/>
          <p:nvPr/>
        </p:nvSpPr>
        <p:spPr>
          <a:xfrm>
            <a:off x="0" y="6743700"/>
            <a:ext cx="8470617" cy="3560866"/>
          </a:xfrm>
          <a:custGeom>
            <a:avLst/>
            <a:gdLst/>
            <a:ahLst/>
            <a:cxnLst/>
            <a:rect l="l" t="t" r="r" b="b"/>
            <a:pathLst>
              <a:path w="9446849" h="4847305" extrusionOk="0">
                <a:moveTo>
                  <a:pt x="9446849" y="4847305"/>
                </a:moveTo>
                <a:lnTo>
                  <a:pt x="0" y="4847305"/>
                </a:lnTo>
                <a:lnTo>
                  <a:pt x="0" y="0"/>
                </a:lnTo>
                <a:lnTo>
                  <a:pt x="9446849" y="4847305"/>
                </a:lnTo>
                <a:close/>
              </a:path>
            </a:pathLst>
          </a:custGeom>
          <a:solidFill>
            <a:srgbClr val="3766AA"/>
          </a:solidFill>
          <a:ln>
            <a:noFill/>
          </a:ln>
        </p:spPr>
      </p:sp>
      <p:sp>
        <p:nvSpPr>
          <p:cNvPr id="161" name="Google Shape;161;p22">
            <a:extLst>
              <a:ext uri="{FF2B5EF4-FFF2-40B4-BE49-F238E27FC236}">
                <a16:creationId xmlns:a16="http://schemas.microsoft.com/office/drawing/2014/main" id="{C7AC56D2-C591-B20E-E91C-0C726394C6FA}"/>
              </a:ext>
            </a:extLst>
          </p:cNvPr>
          <p:cNvSpPr/>
          <p:nvPr/>
        </p:nvSpPr>
        <p:spPr>
          <a:xfrm rot="5400000">
            <a:off x="-2636427" y="2636427"/>
            <a:ext cx="9508163" cy="4235309"/>
          </a:xfrm>
          <a:custGeom>
            <a:avLst/>
            <a:gdLst/>
            <a:ahLst/>
            <a:cxnLst/>
            <a:rect l="l" t="t" r="r" b="b"/>
            <a:pathLst>
              <a:path w="9446849" h="4207997" extrusionOk="0">
                <a:moveTo>
                  <a:pt x="9446849" y="4207997"/>
                </a:moveTo>
                <a:lnTo>
                  <a:pt x="0" y="4207997"/>
                </a:lnTo>
                <a:lnTo>
                  <a:pt x="0" y="0"/>
                </a:lnTo>
                <a:lnTo>
                  <a:pt x="9446849" y="4207997"/>
                </a:lnTo>
                <a:close/>
              </a:path>
            </a:pathLst>
          </a:custGeom>
          <a:solidFill>
            <a:srgbClr val="E1EBFF"/>
          </a:solidFill>
          <a:ln>
            <a:noFill/>
          </a:ln>
        </p:spPr>
      </p:sp>
      <p:sp>
        <p:nvSpPr>
          <p:cNvPr id="162" name="Google Shape;162;p22">
            <a:extLst>
              <a:ext uri="{FF2B5EF4-FFF2-40B4-BE49-F238E27FC236}">
                <a16:creationId xmlns:a16="http://schemas.microsoft.com/office/drawing/2014/main" id="{97FD6DFE-7AE4-E88E-4C0C-F5FDD93BD12E}"/>
              </a:ext>
            </a:extLst>
          </p:cNvPr>
          <p:cNvSpPr txBox="1"/>
          <p:nvPr/>
        </p:nvSpPr>
        <p:spPr>
          <a:xfrm>
            <a:off x="1202763" y="699800"/>
            <a:ext cx="60651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000" b="1" i="0" u="none" strike="noStrike" cap="none" dirty="0">
                <a:latin typeface="Verdana"/>
                <a:ea typeface="Verdana"/>
                <a:cs typeface="Verdana"/>
                <a:sym typeface="Verdana"/>
              </a:rPr>
              <a:t>INTRODUÇÃO</a:t>
            </a:r>
            <a:endParaRPr sz="4000" i="0" u="none" strike="noStrike" cap="none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3" name="Google Shape;163;p22">
            <a:extLst>
              <a:ext uri="{FF2B5EF4-FFF2-40B4-BE49-F238E27FC236}">
                <a16:creationId xmlns:a16="http://schemas.microsoft.com/office/drawing/2014/main" id="{A28589A3-DA27-365F-BABB-5F75B1A5B7D7}"/>
              </a:ext>
            </a:extLst>
          </p:cNvPr>
          <p:cNvSpPr txBox="1"/>
          <p:nvPr/>
        </p:nvSpPr>
        <p:spPr>
          <a:xfrm>
            <a:off x="1773050" y="1529875"/>
            <a:ext cx="15255600" cy="56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D3DCBB0E-A4C4-09B9-87CE-BF71C89634FD}"/>
              </a:ext>
            </a:extLst>
          </p:cNvPr>
          <p:cNvSpPr txBox="1"/>
          <p:nvPr/>
        </p:nvSpPr>
        <p:spPr>
          <a:xfrm>
            <a:off x="1773050" y="2946184"/>
            <a:ext cx="15486000" cy="3560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900" dirty="0">
                <a:latin typeface="Verdana"/>
                <a:ea typeface="Verdana"/>
                <a:cs typeface="Verdana"/>
                <a:sym typeface="Verdana"/>
              </a:rPr>
              <a:t>Justificativa: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lang="pt-BR" sz="3900" dirty="0"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900" dirty="0">
                <a:latin typeface="Verdana"/>
                <a:ea typeface="Verdana"/>
                <a:cs typeface="Verdana"/>
                <a:sym typeface="Verdana"/>
              </a:rPr>
              <a:t> (...) se justifica ao propor uma abordagem integrada que conecta colaboração humano-tecnologia a complexidade cognitiva do trabalho, (...), fundamentar práticas de gestão de desenvolvimento humano ou políticas públicas educacionais e econômicas de preservação do trabalho.</a:t>
            </a:r>
            <a:endParaRPr sz="390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F290668-FA1C-511C-F205-EA55F067A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6563" y="8525084"/>
            <a:ext cx="2011075" cy="112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631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DA5A4FA-1B92-A7E4-016B-AD4B108B5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1">
            <a:extLst>
              <a:ext uri="{FF2B5EF4-FFF2-40B4-BE49-F238E27FC236}">
                <a16:creationId xmlns:a16="http://schemas.microsoft.com/office/drawing/2014/main" id="{93F826C6-88F2-5A27-F5DA-BB3634193D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733213" y="6598393"/>
            <a:ext cx="13346932" cy="3688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1">
            <a:extLst>
              <a:ext uri="{FF2B5EF4-FFF2-40B4-BE49-F238E27FC236}">
                <a16:creationId xmlns:a16="http://schemas.microsoft.com/office/drawing/2014/main" id="{AF431F2B-FB50-0E6A-F03C-C5CF678C270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11703438" y="6636492"/>
            <a:ext cx="6604440" cy="368860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>
            <a:extLst>
              <a:ext uri="{FF2B5EF4-FFF2-40B4-BE49-F238E27FC236}">
                <a16:creationId xmlns:a16="http://schemas.microsoft.com/office/drawing/2014/main" id="{8DF06037-4F4D-5E63-3A9D-07F615071E2C}"/>
              </a:ext>
            </a:extLst>
          </p:cNvPr>
          <p:cNvSpPr/>
          <p:nvPr/>
        </p:nvSpPr>
        <p:spPr>
          <a:xfrm rot="5400000" flipH="1">
            <a:off x="-1116218" y="5656744"/>
            <a:ext cx="5753101" cy="3507412"/>
          </a:xfrm>
          <a:custGeom>
            <a:avLst/>
            <a:gdLst/>
            <a:ahLst/>
            <a:cxnLst/>
            <a:rect l="l" t="t" r="r" b="b"/>
            <a:pathLst>
              <a:path w="7464494" h="4292149" extrusionOk="0">
                <a:moveTo>
                  <a:pt x="7464494" y="4292149"/>
                </a:moveTo>
                <a:lnTo>
                  <a:pt x="0" y="4292149"/>
                </a:lnTo>
                <a:lnTo>
                  <a:pt x="0" y="0"/>
                </a:lnTo>
                <a:lnTo>
                  <a:pt x="7464494" y="4292149"/>
                </a:lnTo>
                <a:close/>
              </a:path>
            </a:pathLst>
          </a:custGeom>
          <a:solidFill>
            <a:srgbClr val="004A98"/>
          </a:solidFill>
          <a:ln>
            <a:noFill/>
          </a:ln>
        </p:spPr>
      </p:sp>
      <p:sp>
        <p:nvSpPr>
          <p:cNvPr id="153" name="Google Shape;153;p21">
            <a:extLst>
              <a:ext uri="{FF2B5EF4-FFF2-40B4-BE49-F238E27FC236}">
                <a16:creationId xmlns:a16="http://schemas.microsoft.com/office/drawing/2014/main" id="{5A681648-C660-D550-7CE1-C8BF44358C0F}"/>
              </a:ext>
            </a:extLst>
          </p:cNvPr>
          <p:cNvSpPr txBox="1"/>
          <p:nvPr/>
        </p:nvSpPr>
        <p:spPr>
          <a:xfrm>
            <a:off x="863075" y="699800"/>
            <a:ext cx="738779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REFERENCIAL </a:t>
            </a:r>
            <a:r>
              <a:rPr lang="en-US" sz="40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</a:t>
            </a:r>
            <a:r>
              <a:rPr lang="en-US" sz="4000" b="1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EÓRICO</a:t>
            </a:r>
            <a:endParaRPr sz="400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890DBE32-21C8-860D-2BAA-EDC5F7D8332E}"/>
              </a:ext>
            </a:extLst>
          </p:cNvPr>
          <p:cNvSpPr txBox="1"/>
          <p:nvPr/>
        </p:nvSpPr>
        <p:spPr>
          <a:xfrm>
            <a:off x="2121669" y="1863403"/>
            <a:ext cx="13346932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dirty="0">
                <a:latin typeface="Verdana"/>
                <a:ea typeface="Verdana"/>
                <a:cs typeface="Verdana"/>
                <a:sym typeface="Verdana"/>
              </a:rPr>
              <a:t>Modelo Teórico de Pesquisa: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38E20AE-731E-3E55-F49E-F5CA930D35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66563" y="8525084"/>
            <a:ext cx="2011075" cy="1128087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CBF496C-4D23-E291-EDA1-8B11E9A804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685" y="2647964"/>
            <a:ext cx="17842629" cy="557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41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7FD9D1D-7754-A495-0757-DBABFD7C4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1">
            <a:extLst>
              <a:ext uri="{FF2B5EF4-FFF2-40B4-BE49-F238E27FC236}">
                <a16:creationId xmlns:a16="http://schemas.microsoft.com/office/drawing/2014/main" id="{E4E7F320-D9E9-1A24-5B67-078C10988E4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733213" y="6598393"/>
            <a:ext cx="13346932" cy="3688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1">
            <a:extLst>
              <a:ext uri="{FF2B5EF4-FFF2-40B4-BE49-F238E27FC236}">
                <a16:creationId xmlns:a16="http://schemas.microsoft.com/office/drawing/2014/main" id="{2CCD04A6-733A-65FF-96BA-8366F17C858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11703438" y="6636492"/>
            <a:ext cx="6604440" cy="368860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>
            <a:extLst>
              <a:ext uri="{FF2B5EF4-FFF2-40B4-BE49-F238E27FC236}">
                <a16:creationId xmlns:a16="http://schemas.microsoft.com/office/drawing/2014/main" id="{DC35E2C7-3763-7BF1-3DF9-69083290BD3A}"/>
              </a:ext>
            </a:extLst>
          </p:cNvPr>
          <p:cNvSpPr/>
          <p:nvPr/>
        </p:nvSpPr>
        <p:spPr>
          <a:xfrm rot="5400000" flipH="1">
            <a:off x="-1116218" y="5656744"/>
            <a:ext cx="5753101" cy="3507412"/>
          </a:xfrm>
          <a:custGeom>
            <a:avLst/>
            <a:gdLst/>
            <a:ahLst/>
            <a:cxnLst/>
            <a:rect l="l" t="t" r="r" b="b"/>
            <a:pathLst>
              <a:path w="7464494" h="4292149" extrusionOk="0">
                <a:moveTo>
                  <a:pt x="7464494" y="4292149"/>
                </a:moveTo>
                <a:lnTo>
                  <a:pt x="0" y="4292149"/>
                </a:lnTo>
                <a:lnTo>
                  <a:pt x="0" y="0"/>
                </a:lnTo>
                <a:lnTo>
                  <a:pt x="7464494" y="4292149"/>
                </a:lnTo>
                <a:close/>
              </a:path>
            </a:pathLst>
          </a:custGeom>
          <a:solidFill>
            <a:srgbClr val="004A98"/>
          </a:solidFill>
          <a:ln>
            <a:noFill/>
          </a:ln>
        </p:spPr>
      </p:sp>
      <p:sp>
        <p:nvSpPr>
          <p:cNvPr id="153" name="Google Shape;153;p21">
            <a:extLst>
              <a:ext uri="{FF2B5EF4-FFF2-40B4-BE49-F238E27FC236}">
                <a16:creationId xmlns:a16="http://schemas.microsoft.com/office/drawing/2014/main" id="{F8390DF3-9359-F69A-8880-C9A5BC141AE8}"/>
              </a:ext>
            </a:extLst>
          </p:cNvPr>
          <p:cNvSpPr txBox="1"/>
          <p:nvPr/>
        </p:nvSpPr>
        <p:spPr>
          <a:xfrm>
            <a:off x="863075" y="699800"/>
            <a:ext cx="7494116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lvl="0">
              <a:buSzPts val="4800"/>
            </a:pPr>
            <a:r>
              <a:rPr lang="en-US" sz="40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REFERENCIAL TEÓRICO</a:t>
            </a:r>
            <a:endParaRPr lang="en-US" sz="40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4F450EFF-CF9B-8154-C0E3-791B27F7F67E}"/>
              </a:ext>
            </a:extLst>
          </p:cNvPr>
          <p:cNvSpPr txBox="1"/>
          <p:nvPr/>
        </p:nvSpPr>
        <p:spPr>
          <a:xfrm>
            <a:off x="1357208" y="1831482"/>
            <a:ext cx="15414892" cy="5366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200" dirty="0">
                <a:latin typeface="Verdana"/>
                <a:ea typeface="Verdana"/>
                <a:cs typeface="Verdana"/>
                <a:sym typeface="Verdana"/>
              </a:rPr>
              <a:t>Hermenêutica interpretativa:</a:t>
            </a:r>
          </a:p>
          <a:p>
            <a:pPr marL="25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lang="pt-BR" sz="3200" dirty="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r>
              <a:rPr lang="pt-BR" sz="3200" dirty="0">
                <a:latin typeface="Verdana"/>
                <a:ea typeface="Verdana"/>
                <a:cs typeface="Verdana"/>
                <a:sym typeface="Verdana"/>
              </a:rPr>
              <a:t>Sob a perspectiva da teoria sociotécnica, este processo não opera em isolamento, contudo, integra sistemas sociotécnicos onde subsistemas sociais laborais e técnico  digitais interagem de maneira complementar e interdependente (</a:t>
            </a:r>
            <a:r>
              <a:rPr lang="pt-BR" sz="3200" dirty="0" err="1">
                <a:latin typeface="Verdana"/>
                <a:ea typeface="Verdana"/>
                <a:cs typeface="Verdana"/>
                <a:sym typeface="Verdana"/>
              </a:rPr>
              <a:t>Pasmore</a:t>
            </a:r>
            <a:r>
              <a:rPr lang="pt-BR" sz="3200" dirty="0">
                <a:latin typeface="Verdana"/>
                <a:ea typeface="Verdana"/>
                <a:cs typeface="Verdana"/>
                <a:sym typeface="Verdana"/>
              </a:rPr>
              <a:t> et al., 1982).</a:t>
            </a: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endParaRPr lang="pt-BR" sz="3200" dirty="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r>
              <a:rPr lang="pt-BR" sz="3200" dirty="0">
                <a:latin typeface="Verdana"/>
                <a:ea typeface="Verdana"/>
                <a:cs typeface="Verdana"/>
                <a:sym typeface="Verdana"/>
              </a:rPr>
              <a:t> Sob o viés da aprendizagem interativa, o conhecimento é o principal recurso econômico e seu desenvolvimento ocorre por meio de interações sociais e institucionais. Na coevolução os trabalhadores aprendem ao interagir com sistemas, ao mesmo tempo em que tais sistemas são ajustados a partir do uso e da experiência (</a:t>
            </a:r>
            <a:r>
              <a:rPr lang="pt-BR" sz="3200" dirty="0" err="1">
                <a:latin typeface="Verdana"/>
                <a:ea typeface="Verdana"/>
                <a:cs typeface="Verdana"/>
                <a:sym typeface="Verdana"/>
              </a:rPr>
              <a:t>Lundvall</a:t>
            </a:r>
            <a:r>
              <a:rPr lang="pt-BR" sz="3200" dirty="0">
                <a:latin typeface="Verdana"/>
                <a:ea typeface="Verdana"/>
                <a:cs typeface="Verdana"/>
                <a:sym typeface="Verdana"/>
              </a:rPr>
              <a:t>, 1992). 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31D5D60-F5FE-860A-4C7F-30EC287FCF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66563" y="8525084"/>
            <a:ext cx="2011075" cy="112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886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39E919E-A9EC-F0FC-907E-F2C7261BB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1">
            <a:extLst>
              <a:ext uri="{FF2B5EF4-FFF2-40B4-BE49-F238E27FC236}">
                <a16:creationId xmlns:a16="http://schemas.microsoft.com/office/drawing/2014/main" id="{DD1E1614-6D73-7C4F-2699-AF45A1B07A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733213" y="6598393"/>
            <a:ext cx="13346932" cy="3688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1">
            <a:extLst>
              <a:ext uri="{FF2B5EF4-FFF2-40B4-BE49-F238E27FC236}">
                <a16:creationId xmlns:a16="http://schemas.microsoft.com/office/drawing/2014/main" id="{372CAB32-1623-9ED2-5328-D8262ED85E0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11703438" y="6636492"/>
            <a:ext cx="6604440" cy="368860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>
            <a:extLst>
              <a:ext uri="{FF2B5EF4-FFF2-40B4-BE49-F238E27FC236}">
                <a16:creationId xmlns:a16="http://schemas.microsoft.com/office/drawing/2014/main" id="{8C5480AA-C191-4183-A226-89B611F7F5F2}"/>
              </a:ext>
            </a:extLst>
          </p:cNvPr>
          <p:cNvSpPr/>
          <p:nvPr/>
        </p:nvSpPr>
        <p:spPr>
          <a:xfrm rot="5400000" flipH="1">
            <a:off x="-1116218" y="5656744"/>
            <a:ext cx="5753101" cy="3507412"/>
          </a:xfrm>
          <a:custGeom>
            <a:avLst/>
            <a:gdLst/>
            <a:ahLst/>
            <a:cxnLst/>
            <a:rect l="l" t="t" r="r" b="b"/>
            <a:pathLst>
              <a:path w="7464494" h="4292149" extrusionOk="0">
                <a:moveTo>
                  <a:pt x="7464494" y="4292149"/>
                </a:moveTo>
                <a:lnTo>
                  <a:pt x="0" y="4292149"/>
                </a:lnTo>
                <a:lnTo>
                  <a:pt x="0" y="0"/>
                </a:lnTo>
                <a:lnTo>
                  <a:pt x="7464494" y="4292149"/>
                </a:lnTo>
                <a:close/>
              </a:path>
            </a:pathLst>
          </a:custGeom>
          <a:solidFill>
            <a:srgbClr val="004A98"/>
          </a:solidFill>
          <a:ln>
            <a:noFill/>
          </a:ln>
        </p:spPr>
      </p:sp>
      <p:sp>
        <p:nvSpPr>
          <p:cNvPr id="153" name="Google Shape;153;p21">
            <a:extLst>
              <a:ext uri="{FF2B5EF4-FFF2-40B4-BE49-F238E27FC236}">
                <a16:creationId xmlns:a16="http://schemas.microsoft.com/office/drawing/2014/main" id="{FC91B23D-94EE-9B1B-8230-083A2767357C}"/>
              </a:ext>
            </a:extLst>
          </p:cNvPr>
          <p:cNvSpPr txBox="1"/>
          <p:nvPr/>
        </p:nvSpPr>
        <p:spPr>
          <a:xfrm>
            <a:off x="863075" y="699800"/>
            <a:ext cx="6065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0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METODOLOGIA</a:t>
            </a:r>
            <a:endParaRPr sz="400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CC441D0B-BAAE-6678-A7D1-A41B0E40115A}"/>
              </a:ext>
            </a:extLst>
          </p:cNvPr>
          <p:cNvSpPr txBox="1"/>
          <p:nvPr/>
        </p:nvSpPr>
        <p:spPr>
          <a:xfrm>
            <a:off x="3895625" y="2395031"/>
            <a:ext cx="10260769" cy="808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200" dirty="0">
                <a:latin typeface="Verdana"/>
                <a:ea typeface="Verdana"/>
                <a:cs typeface="Verdana"/>
                <a:sym typeface="Verdana"/>
              </a:rPr>
              <a:t>Prática de pesquisa:</a:t>
            </a:r>
          </a:p>
          <a:p>
            <a:pPr marL="25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lang="pt-BR" sz="3200" dirty="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r>
              <a:rPr lang="pt-BR" sz="3200" dirty="0">
                <a:latin typeface="Verdana"/>
                <a:ea typeface="Verdana"/>
                <a:cs typeface="Verdana"/>
                <a:sym typeface="Verdana"/>
              </a:rPr>
              <a:t>Pesquisa </a:t>
            </a:r>
            <a:r>
              <a:rPr lang="pt-BR" sz="3200" dirty="0" err="1">
                <a:latin typeface="Verdana"/>
                <a:ea typeface="Verdana"/>
                <a:cs typeface="Verdana"/>
                <a:sym typeface="Verdana"/>
              </a:rPr>
              <a:t>quali-quantitativa</a:t>
            </a:r>
            <a:r>
              <a:rPr lang="pt-BR" sz="3200" dirty="0">
                <a:latin typeface="Verdana"/>
                <a:ea typeface="Verdana"/>
                <a:cs typeface="Verdana"/>
                <a:sym typeface="Verdana"/>
              </a:rPr>
              <a:t>.</a:t>
            </a: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endParaRPr lang="pt-BR" sz="3200" dirty="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r>
              <a:rPr lang="pt-BR" sz="3200" dirty="0">
                <a:latin typeface="Verdana"/>
                <a:ea typeface="Verdana"/>
                <a:cs typeface="Verdana"/>
                <a:sym typeface="Verdana"/>
              </a:rPr>
              <a:t> Base da O*NET (Ocupações dos EUA).</a:t>
            </a: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endParaRPr lang="pt-BR" sz="3200" dirty="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r>
              <a:rPr lang="pt-BR" sz="3200" dirty="0">
                <a:latin typeface="Verdana"/>
                <a:ea typeface="Verdana"/>
                <a:cs typeface="Verdana"/>
                <a:sym typeface="Verdana"/>
              </a:rPr>
              <a:t> Análise de Componentes Principais.</a:t>
            </a: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endParaRPr lang="pt-BR" sz="3200" dirty="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r>
              <a:rPr lang="pt-BR" sz="3200" dirty="0">
                <a:latin typeface="Verdana"/>
                <a:ea typeface="Verdana"/>
                <a:cs typeface="Verdana"/>
                <a:sym typeface="Verdana"/>
              </a:rPr>
              <a:t> Análise Fatorial Confirmatória.</a:t>
            </a: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endParaRPr lang="pt-BR" sz="3200" dirty="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r>
              <a:rPr lang="pt-BR" sz="3200" dirty="0">
                <a:latin typeface="Verdana"/>
                <a:ea typeface="Verdana"/>
                <a:cs typeface="Verdana"/>
                <a:sym typeface="Verdana"/>
              </a:rPr>
              <a:t> Interpretação dos Dados.</a:t>
            </a: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endParaRPr lang="pt-BR" sz="3200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A9E522F-6777-1651-4FAE-88932D023D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66563" y="8525084"/>
            <a:ext cx="2011075" cy="112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16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C5241E0-63B4-3DC8-EF8D-D8B50B937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1">
            <a:extLst>
              <a:ext uri="{FF2B5EF4-FFF2-40B4-BE49-F238E27FC236}">
                <a16:creationId xmlns:a16="http://schemas.microsoft.com/office/drawing/2014/main" id="{87E41F5A-501E-0E99-2538-77F103B3DE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733213" y="6598393"/>
            <a:ext cx="13346932" cy="3688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1">
            <a:extLst>
              <a:ext uri="{FF2B5EF4-FFF2-40B4-BE49-F238E27FC236}">
                <a16:creationId xmlns:a16="http://schemas.microsoft.com/office/drawing/2014/main" id="{1CC6FBF5-3514-2F82-A18E-90026F4B2E3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11703438" y="6636492"/>
            <a:ext cx="6604440" cy="368860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>
            <a:extLst>
              <a:ext uri="{FF2B5EF4-FFF2-40B4-BE49-F238E27FC236}">
                <a16:creationId xmlns:a16="http://schemas.microsoft.com/office/drawing/2014/main" id="{0E6E048E-1B0F-F678-C0CC-526568E7712A}"/>
              </a:ext>
            </a:extLst>
          </p:cNvPr>
          <p:cNvSpPr/>
          <p:nvPr/>
        </p:nvSpPr>
        <p:spPr>
          <a:xfrm rot="5400000" flipH="1">
            <a:off x="-1116218" y="5656744"/>
            <a:ext cx="5753101" cy="3507412"/>
          </a:xfrm>
          <a:custGeom>
            <a:avLst/>
            <a:gdLst/>
            <a:ahLst/>
            <a:cxnLst/>
            <a:rect l="l" t="t" r="r" b="b"/>
            <a:pathLst>
              <a:path w="7464494" h="4292149" extrusionOk="0">
                <a:moveTo>
                  <a:pt x="7464494" y="4292149"/>
                </a:moveTo>
                <a:lnTo>
                  <a:pt x="0" y="4292149"/>
                </a:lnTo>
                <a:lnTo>
                  <a:pt x="0" y="0"/>
                </a:lnTo>
                <a:lnTo>
                  <a:pt x="7464494" y="4292149"/>
                </a:lnTo>
                <a:close/>
              </a:path>
            </a:pathLst>
          </a:custGeom>
          <a:solidFill>
            <a:srgbClr val="004A98"/>
          </a:solidFill>
          <a:ln>
            <a:noFill/>
          </a:ln>
        </p:spPr>
      </p:sp>
      <p:sp>
        <p:nvSpPr>
          <p:cNvPr id="153" name="Google Shape;153;p21">
            <a:extLst>
              <a:ext uri="{FF2B5EF4-FFF2-40B4-BE49-F238E27FC236}">
                <a16:creationId xmlns:a16="http://schemas.microsoft.com/office/drawing/2014/main" id="{EBC6F440-C976-3DC8-BD07-2CB6EAC9D2DB}"/>
              </a:ext>
            </a:extLst>
          </p:cNvPr>
          <p:cNvSpPr txBox="1"/>
          <p:nvPr/>
        </p:nvSpPr>
        <p:spPr>
          <a:xfrm>
            <a:off x="863075" y="699800"/>
            <a:ext cx="738779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REFERÊNCIAS</a:t>
            </a:r>
            <a:endParaRPr sz="400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75E82B5F-CA1F-0B55-9F22-CBCFB3A448EF}"/>
              </a:ext>
            </a:extLst>
          </p:cNvPr>
          <p:cNvSpPr txBox="1"/>
          <p:nvPr/>
        </p:nvSpPr>
        <p:spPr>
          <a:xfrm>
            <a:off x="1786270" y="1863403"/>
            <a:ext cx="13886121" cy="808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200" i="0" u="none" strike="noStrike" cap="none" dirty="0" err="1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Principais</a:t>
            </a:r>
            <a:r>
              <a:rPr lang="en-US" sz="320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3200" i="0" u="none" strike="noStrike" cap="none" dirty="0" err="1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Referências</a:t>
            </a:r>
            <a:r>
              <a:rPr lang="en-US" sz="320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 lang="pt-BR" sz="3200" dirty="0"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Frey, C. B., &amp; Osborne, M. A. (2017). The future of employment: How susceptible are jobs to </a:t>
            </a:r>
            <a:r>
              <a:rPr lang="en-US" sz="2400" dirty="0" err="1">
                <a:latin typeface="Verdana"/>
                <a:ea typeface="Verdana"/>
                <a:cs typeface="Verdana"/>
                <a:sym typeface="Verdana"/>
              </a:rPr>
              <a:t>computerisation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?. Technological forecasting and social change, 114, 254-280. 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  <a:hlinkClick r:id="rId5"/>
              </a:rPr>
              <a:t>https://doi.org/10.1016/j.techfore.2016.08.019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.</a:t>
            </a: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Jun Liu, J., Liu, Z., Wang, C., Xu, Y., Chen, J., &amp; Cheng, Y. (2024). K-12 students' higher-order thinking skills: Conceptualization, components, and evaluation indicators. </a:t>
            </a:r>
            <a:r>
              <a:rPr lang="en-US" sz="2400" i="1" dirty="0">
                <a:latin typeface="Verdana"/>
                <a:ea typeface="Verdana"/>
                <a:cs typeface="Verdana"/>
                <a:sym typeface="Verdana"/>
              </a:rPr>
              <a:t>Thinking Skills and Creativity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, 52, 101551. 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  <a:hlinkClick r:id="rId6"/>
              </a:rPr>
              <a:t>https://doi.org/10.1016/j.tsc.2024.101551</a:t>
            </a: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. </a:t>
            </a: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Lundvall, B.-Å. (1992). </a:t>
            </a:r>
            <a:r>
              <a:rPr lang="en-US" sz="2400" i="1" dirty="0">
                <a:latin typeface="Verdana"/>
                <a:ea typeface="Verdana"/>
                <a:cs typeface="Verdana"/>
                <a:sym typeface="Verdana"/>
              </a:rPr>
              <a:t>National systems of innovation: Towards a theory of innovation and interactive learning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. Pinter.</a:t>
            </a: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Pasmore, W. A., Francis, C. A., Haldeman, J., &amp; Shani, A. B. (1982). Sociotechnical systems: A North American reflection on empirical studies of the seventies. Human Relations, 35(12), 1179–1204.</a:t>
            </a: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431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AutoNum type="romanUcPeriod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743C5D2-F2C7-7022-8E3E-517860479B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66563" y="8525084"/>
            <a:ext cx="2011075" cy="112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015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7"/>
          <p:cNvSpPr/>
          <p:nvPr/>
        </p:nvSpPr>
        <p:spPr>
          <a:xfrm>
            <a:off x="-4380" y="-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9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0286999"/>
                </a:lnTo>
                <a:close/>
              </a:path>
            </a:pathLst>
          </a:custGeom>
          <a:solidFill>
            <a:srgbClr val="004A9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7"/>
          <p:cNvSpPr/>
          <p:nvPr/>
        </p:nvSpPr>
        <p:spPr>
          <a:xfrm>
            <a:off x="13417615" y="6207125"/>
            <a:ext cx="4866005" cy="4079875"/>
          </a:xfrm>
          <a:custGeom>
            <a:avLst/>
            <a:gdLst/>
            <a:ahLst/>
            <a:cxnLst/>
            <a:rect l="l" t="t" r="r" b="b"/>
            <a:pathLst>
              <a:path w="4866005" h="4079875" extrusionOk="0">
                <a:moveTo>
                  <a:pt x="4865828" y="4079874"/>
                </a:moveTo>
                <a:lnTo>
                  <a:pt x="0" y="4079874"/>
                </a:lnTo>
                <a:lnTo>
                  <a:pt x="4865828" y="0"/>
                </a:lnTo>
                <a:lnTo>
                  <a:pt x="4865828" y="40798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924597"/>
            <a:ext cx="3397077" cy="5362401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7"/>
          <p:cNvSpPr txBox="1"/>
          <p:nvPr/>
        </p:nvSpPr>
        <p:spPr>
          <a:xfrm>
            <a:off x="2892056" y="4576676"/>
            <a:ext cx="12058529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54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OBRIGADO!</a:t>
            </a:r>
            <a:endParaRPr sz="3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7D0060F-6B25-5A66-AA27-381275F8DF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66563" y="8525084"/>
            <a:ext cx="2011075" cy="11280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642</Words>
  <Application>Microsoft Office PowerPoint</Application>
  <PresentationFormat>Personalizar</PresentationFormat>
  <Paragraphs>92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Arial</vt:lpstr>
      <vt:lpstr>Calibri</vt:lpstr>
      <vt:lpstr>Times New Roman</vt:lpstr>
      <vt:lpstr>Verdana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Maxwell</dc:creator>
  <cp:lastModifiedBy>maxwell montques</cp:lastModifiedBy>
  <cp:revision>4</cp:revision>
  <dcterms:modified xsi:type="dcterms:W3CDTF">2026-04-14T12:01:19Z</dcterms:modified>
</cp:coreProperties>
</file>